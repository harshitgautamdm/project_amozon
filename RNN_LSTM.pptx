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300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88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8392" y="274320"/>
            <a:ext cx="278473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Times New Roman"/>
              </a:defRPr>
            </a:pPr>
            <a:r>
              <a:rPr sz="3200">
                <a:latin typeface="Times New Roman"/>
              </a:rPr>
              <a:t>RNN &amp; LSTM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Recurrent Neural Networks (RNN)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Long Short-Term Memory (LSTM)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Bidirectional RNN &amp; LSTM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Sequences, applications, architecture and model creation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09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latin typeface="Times New Roman"/>
              </a:defRPr>
            </a:pPr>
            <a:r>
              <a:rPr sz="3200">
                <a:latin typeface="Times New Roman"/>
              </a:rPr>
              <a:t>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2885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Understand sequential data and why sequence models are required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Learn the architecture and working of RNN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Understand RNN limitations and the vanishing-gradient problem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Learn LSTM cells, states and gates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Understand Bidirectional RNN/LSTM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Explore applications, advantages, disadvantages and practical model creation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61054" y="274320"/>
            <a:ext cx="463941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Times New Roman"/>
              </a:defRPr>
            </a:pPr>
            <a:r>
              <a:rPr sz="3200">
                <a:latin typeface="Times New Roman"/>
              </a:rPr>
              <a:t>What is Sequential Data?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2654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Sequential data is data where the order of observations carries meaning.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Examples: sentences, speech signals, stock prices, weather readings and sensor data.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A model must use information from previous time steps to understand the current or future step.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Example: In “I am learning Python”, the order of words matters.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11635" y="274320"/>
            <a:ext cx="273825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Times New Roman"/>
              </a:defRPr>
            </a:pPr>
            <a:r>
              <a:rPr sz="3200">
                <a:latin typeface="Times New Roman"/>
              </a:rPr>
              <a:t>What is RNN?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RNN = Recurrent Neural Network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RNN is a neural network designed for sequential or time-dependent data.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It processes one element of a sequence at a time and maintains information from previous steps through a hidden state.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The hidden state acts as a form of memory.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Typical applications include text, speech and time-series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9452" y="274320"/>
            <a:ext cx="464261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Times New Roman"/>
              </a:defRPr>
            </a:pPr>
            <a:r>
              <a:rPr sz="3200" dirty="0">
                <a:latin typeface="Times New Roman"/>
              </a:rPr>
              <a:t>Traditional </a:t>
            </a:r>
            <a:r>
              <a:rPr lang="en-US" sz="3200" dirty="0">
                <a:latin typeface="Times New Roman"/>
              </a:rPr>
              <a:t>A</a:t>
            </a:r>
            <a:r>
              <a:rPr sz="3200" dirty="0">
                <a:latin typeface="Times New Roman"/>
              </a:rPr>
              <a:t>NN vs RNN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2285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Traditional ANN: input → hidden layers → output; previous input information is not explicitly carried forward.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RNN: input at time t + previous hidden state → current hidden state → output.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ANN is suitable for many independent observations.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RNN is useful when order and temporal dependency matter.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21968" y="274320"/>
            <a:ext cx="451758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Times New Roman"/>
              </a:defRPr>
            </a:pPr>
            <a:r>
              <a:rPr sz="3200">
                <a:latin typeface="Times New Roman"/>
              </a:rPr>
              <a:t>Why Do We Need RNN?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A standard Artificial Neural Network (ANN) generally treats inputs independently.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Sequential problems require information from earlier observations.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RNN passes information from the previous time step to the current time step.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Example: To predict the next word, previous words provide useful context.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RNN therefore introduces recurrence and memory into neural networks.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55631" y="274320"/>
            <a:ext cx="445025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Times New Roman"/>
              </a:defRPr>
            </a:pPr>
            <a:r>
              <a:rPr sz="3200" dirty="0">
                <a:latin typeface="Times New Roman"/>
              </a:rPr>
              <a:t>Basic RNN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At each time step t, the model receives an input xₜ.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The previous hidden state hₜ₋₁ carries information from earlier steps.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The RNN combines xₜ and hₜ₋₁ to produce hₜ.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The output yₜ is generated from the current hidden state.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Information flows through the sequence from earlier to later time steps.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troduction to Recurrent Neural Networks - GeeksforGeeks">
            <a:extLst>
              <a:ext uri="{FF2B5EF4-FFF2-40B4-BE49-F238E27FC236}">
                <a16:creationId xmlns:a16="http://schemas.microsoft.com/office/drawing/2014/main" id="{F3095062-BA89-FE5D-DDB5-FD93B7BE7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035" y="335845"/>
            <a:ext cx="6822285" cy="29324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7C53F5-78BA-DC9A-55E7-8266FC2B5A1A}"/>
              </a:ext>
            </a:extLst>
          </p:cNvPr>
          <p:cNvSpPr txBox="1"/>
          <p:nvPr/>
        </p:nvSpPr>
        <p:spPr>
          <a:xfrm>
            <a:off x="329610" y="335845"/>
            <a:ext cx="861503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 Unrolled Architecture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 = Recurrent Neural Network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xₜ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Input at time step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hₜ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Hidden state (memory) at time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hₜ₋₁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Previous hidden state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Input-to-Hidden weights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Hidden-to-Hidden (Recurrent) weights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Hidden-to-Output weights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Lₜ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Loss at time step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Current time step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t−1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Previous time step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t+1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Next time step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Input + Previous Hidden State → Current Hidden State → Output → Loss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hₜ = tanh(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Ux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ₜ +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Vh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ₜ₋₁ + b)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state carries information from previous time steps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the RNN to remember sequence context.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Unfolding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Unfold/Unroll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showing the same RNN cell across multiple time steps.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U, V and W weights are shared across all time steps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xₜ₋₁ → hₜ₋₁ → xₜ → hₜ → xₜ₊₁ → hₜ₊₁</a:t>
            </a:r>
          </a:p>
        </p:txBody>
      </p:sp>
    </p:spTree>
    <p:extLst>
      <p:ext uri="{BB962C8B-B14F-4D97-AF65-F5344CB8AC3E}">
        <p14:creationId xmlns:p14="http://schemas.microsoft.com/office/powerpoint/2010/main" val="1109862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03432" y="274320"/>
            <a:ext cx="29546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Times New Roman"/>
              </a:defRPr>
            </a:pPr>
            <a:r>
              <a:rPr sz="3200" dirty="0">
                <a:latin typeface="Times New Roman"/>
              </a:rPr>
              <a:t>RNN Equations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325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Hidden state: hₜ = activation(Wₓₕxₜ + Wₕₕhₜ₋₁ + bₕ)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Output: yₜ = activation(Wₕᵧhₜ + bᵧ)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xₜ = input at time t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hₜ = current hidden state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hₜ₋₁ = previous hidden state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 dirty="0">
                <a:latin typeface="Times New Roman"/>
              </a:rPr>
              <a:t>W = learnable weight matrices; b = bias; activation is commonly tanh in a basic RNN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1149" y="274320"/>
            <a:ext cx="581922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Times New Roman"/>
              </a:defRPr>
            </a:pPr>
            <a:r>
              <a:rPr sz="3200">
                <a:latin typeface="Times New Roman"/>
              </a:rPr>
              <a:t>How RNN Processes a Sequence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Step 1: Read the first element and create a hidden state.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Step 2: Pass the hidden state to the next time step.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Step 3: Combine the next input with the previous hidden state.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Step 4: Repeat until the sequence is processed.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The same RNN parameters are reused across time steps.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08957" y="274320"/>
            <a:ext cx="614360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Times New Roman"/>
              </a:defRPr>
            </a:pPr>
            <a:r>
              <a:rPr sz="3200">
                <a:latin typeface="Times New Roman"/>
              </a:rPr>
              <a:t>Types of RNN Sequence Problems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One-to-One: one input → one output; e.g., ordinary classification.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Many-to-One: sequence → one output; e.g., sentiment classification.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One-to-Many: one input → sequence; e.g., sequence generation.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Many-to-Many: sequence → sequence; e.g., machine translation or tagging.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latin typeface="Times New Roman"/>
              </a:defRPr>
            </a:pPr>
            <a:r>
              <a:rPr sz="2400">
                <a:latin typeface="Times New Roman"/>
              </a:rPr>
              <a:t>Many-to-Many with aligned outputs: output can be produced at each time step.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Example: Sentiment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Input sequence: “The movie was very good.”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Words are processed sequentially.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 hidden state captures contextual information.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After the complete sentence, the final representation can be sent to a classification layer.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Output: Positive / Negative / Neutral.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Advantages of RNN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Designed specifically for sequential data.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Can process variable-length sequences.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Shares parameters across time steps, reducing the number of unique parameters.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Maintains information through hidden states.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Can be used for text, speech and time-series tasks.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Disadvantages of RNN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Training can be slower because sequence steps are processed sequentially.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Long sequences can be difficult to learn.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Basic RNNs can suffer from vanishing gradients.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They may also experience exploding gradients.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Long-term dependencies can be difficult to retain.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Parallelization is more difficult than for architectures designed for parallel sequence processing.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RNN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Short-term memory is usually stronger than long-term memory.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Important information from early time steps may become difficult to preserve.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Gradient instability can make optimization difficult.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Performance may degrade as sequence length increases.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These limitations motivated gated architectures such as LSTM and GRU.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Vanishing Gradient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During backpropagation through time, gradients are repeatedly multiplied across time steps.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If these gradients become very small, earlier layers/time steps receive little learning signal.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 model then struggles to learn long-term dependencies.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Example: an important word near the beginning of a long sentence may have little influence on a later prediction.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LSTM was designed to address this limitation using gated memory.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Exploding Gradient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Gradients can also become extremely large during training.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This can lead to unstable updates and numerical problems.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Gradient clipping is a common technique used to control very large gradients.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Careful initialization and optimization choices can also help.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Why LSTM?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LSTM = Long Short-Term Memory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LSTM is a special type of RNN designed to learn long-term dependencies.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It introduces a cell state and gates that control what information is forgotten, stored and exposed.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 gates allow the network to regulate information flow.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LSTM is more capable than a basic RNN for many long-sequence problems.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LSTM Main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Cell State (Cₜ): long-term information pathway.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Hidden State (hₜ): current output/short-term representation.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Forget Gate: decides what information to remove.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Input Gate: decides what new information to store.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Candidate Cell State: proposes new information.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Output Gate: decides what information becomes the next hidden state.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LSTM Cell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 cell state is often described as the long-term memory of the LSTM.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Information can flow along the cell state with controlled updates.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Gates modify this memory using learned decisions.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 goal is to preserve useful information and discard irrelevant information.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This mechanism helps reduce the long-term dependency problem.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Forget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 Forget Gate decides which existing cell-state information should be retained or discarded.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It uses the current input xₜ and previous hidden state hₜ₋₁.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Formula: fₜ = σ(W_f[hₜ₋₁, xₜ] + b_f)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σ = sigmoid activation, producing values between 0 and 1.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0 ≈ discard; 1 ≈ retain.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Input Gate &amp; Candidate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Input Gate: iₜ = σ(W_i[hₜ₋₁, xₜ] + b_i)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Candidate information: C̃ₜ = tanh(W_C[hₜ₋₁, xₜ] + b_C)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 input gate controls how much candidate information enters memory.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 candidate state provides new information that could be stored.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Updating the Cell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 cell state is updated using the previous memory and new candidate information.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Cₜ = fₜ ⊙ Cₜ₋₁ + iₜ ⊙ C̃ₜ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⊙ represents element-wise multiplication.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 forget gate controls old information.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 input gate controls new information.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Output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 Output Gate determines which part of the cell state becomes the current hidden state.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Formula: oₜ = σ(W_o[hₜ₋₁, xₜ] + b_o)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Hidden state: hₜ = oₜ ⊙ tanh(Cₜ)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 hidden state can then be used to produce predictions.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Complete LSTM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Input xₜ and previous hidden state enter the gates.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Forget Gate controls previous cell-state information.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Input Gate and Candidate create new memory information.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Cell State is updated.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Output Gate controls the exposed hidden state.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Hidden state is passed to the next time step.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RNN vs LSTM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RNN uses a simpler recurrent hidden state.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LSTM uses hidden state + cell state + gates.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RNN is simpler and has fewer components.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LSTM is more suitable when long-term dependencies are important.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LSTM generally requires more computation and parameters than a basic RNN.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Both are sequence models and can be used for many similar tasks.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What is Bidirectional RNN?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Bidirectional RNN processes a sequence in two directions.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Forward direction: past → future.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Backward direction: future → past.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 two representations are combined to use information from both directions.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Useful when the entire sequence is available at prediction time.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Bidirectional LSTM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Bidirectional LSTM uses LSTM cells in both forward and backward directions.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Forward LSTM captures information from earlier positions.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Backward LSTM captures information from later positions.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 outputs are combined, often by concatenation.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Useful for tasks where both left and right context are valuable.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Bi-RNN/LSTM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Sentence: “The bank approved my loan.”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Understanding “bank” can benefit from surrounding context.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A forward model reads the sentence from left to right.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A backward model reads it from right to left.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Combining both representations provides context from both directions.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RNN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Sentiment analysis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Text classification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Language modeling and next-word prediction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Speech and handwriting recognition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Time-series forecasting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Sequence generation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Named Entity Recognition and sequence labeling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LSTM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Long-sequence text classification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Time-series forecasting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Speech-related sequence modeling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Machine translation components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Anomaly detection in temporal data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Sequence prediction and generation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Sensor and industrial time-series analysis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When to Use RNN/LSTM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Use sequence models when order and temporal context matter.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RNN can be useful for simpler sequential patterns.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LSTM is useful when longer dependencies are important.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Bidirectional models are useful when both past and future context are available.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For modern NLP, Transformer-based models are also widely used and should be considered depending on the task.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RNN Model Creation —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1. Collect sequential data.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2. Clean and prepare the data.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3. Convert data into sequences/windows.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4. Split into training and testing sets.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5. Define the RNN/LSTM architecture.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6. Compile the model.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7. Train the model.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8. Evaluate performance.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9. Generate predictions.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Input Shape for RNN/LSTM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RNN/LSTM commonly expects 3-dimensional input.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Shape = (samples, timesteps, features)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Samples = number of training sequences.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Timesteps = number of observations in each sequence.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Features = number of values/features at each time step.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Example: (1000, 20, 5) means 1000 sequences, 20 time steps and 5 features per step.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Simple LSTM Model — TensorFlow/Keras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from tensorflow.keras.models import Sequential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from tensorflow.keras.layers import LSTM, Dense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endParaRPr>
              <a:latin typeface="Times New Roman"/>
            </a:endParaRP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model = Sequential()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model.add(LSTM(64, input_shape=(20, 5)))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model.add(Dense(1))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model.compile(optimizer='adam', loss='mse')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model.summary()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Understanding the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LSTM(64): 64 memory units/neurons in the LSTM layer.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input_shape=(20, 5): 20 time steps and 5 features per time step.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Dense(1): one output value.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optimizer='adam': optimization algorithm used to update model weights.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loss='mse': Mean Squared Error, commonly used for regression.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 architecture should be adapted to the actual problem.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Training the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latin typeface="Times New Roman"/>
              </a:defRPr>
            </a:pPr>
            <a:r>
              <a:rPr>
                <a:latin typeface="Times New Roman"/>
              </a:rPr>
              <a:t>Typical training process: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model.fit(X_train, y_train, epochs=20, batch_size=32, validation_split=0.2)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Epoch: one complete pass through the training data.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Batch size: number of samples processed before a weight update.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Validation split: portion of training data used for validation.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Monitor validation performance to identify overfitting.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Classification: Accuracy, Precision, Recall, F1-score, ROC-AUC depending on the task.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Regression: MAE, MSE, RMSE, and R².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Time-series forecasting should also be evaluated using appropriate forecasting metrics and a time-aware test split.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Metric selection should match the business problem.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Overfitting in RNN/LSTM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Overfitting occurs when the model learns training patterns too specifically and performs poorly on unseen data.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Possible signs: training loss decreases while validation loss increases.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Controls include dropout, regularization, early stopping, simpler architecture and more data.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Always evaluate on data not used during training.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Advantages of LSTM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Better ability to learn long-term dependencies than a basic RNN.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Gates provide controlled information flow.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Can handle variable-length sequences.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Useful for many temporal and language-related problems.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Can model complex sequential dependencies.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Disadvantages of LSTM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More parameters than a basic RNN.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Higher computational and memory cost.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Training can be slower.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Architecture and hyperparameters may require tuning.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For many NLP tasks, Transformer architectures can be more suitable.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RNN vs LSTM vs Bi-LSTM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RNN: simple recurrent architecture; useful for basic sequential dependencies.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LSTM: gated recurrent architecture; designed for longer dependencies.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Bi-LSTM: LSTM in both directions; uses past and future context when available.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Choice depends on sequence structure, latency, compute, and task requirements.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Key Terminology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Sequence: ordered set of observations.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Time step: one position/observation in a sequence.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Hidden state: recurrent representation carried across steps.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Cell state: LSTM memory pathway.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Gate: learned mechanism controlling information flow.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Epoch: one pass through training data.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Timestep: another term for position in a sequence.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Important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RNNs are designed for sequential data.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 hidden state carries information across time steps.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Basic RNNs can struggle with long-term dependencies.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LSTM adds cell state and gates to control memory.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Bidirectional models use information from both directions.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RNN/LSTM models require 3D sequence input in common deep-learning frameworks.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The correct architecture depends on the task and data.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Times New Roman"/>
              </a:defRPr>
            </a:pPr>
            <a:r>
              <a:rPr>
                <a:latin typeface="Times New Roman"/>
              </a:rPr>
              <a:t>End of RNN &amp; LSTM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09960" cy="3657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Recurrent Neural Networks (RNN)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Long Short-Term Memory (LSTM)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Bidirectional RNN &amp; LSTM</a:t>
            </a:r>
          </a:p>
          <a:p>
            <a:pPr>
              <a:spcAft>
                <a:spcPts val="900"/>
              </a:spcAft>
              <a:defRPr sz="1800">
                <a:latin typeface="Times New Roman"/>
              </a:defRPr>
            </a:pPr>
            <a:r>
              <a:rPr>
                <a:latin typeface="Times New Roman"/>
              </a:rPr>
              <a:t>Sequences • Applications • Model Creation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2697</Words>
  <Application>Microsoft Office PowerPoint</Application>
  <PresentationFormat>Widescreen</PresentationFormat>
  <Paragraphs>297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harshit.gautam@skillfloor.com</cp:lastModifiedBy>
  <cp:revision>4</cp:revision>
  <dcterms:created xsi:type="dcterms:W3CDTF">2013-01-27T09:14:16Z</dcterms:created>
  <dcterms:modified xsi:type="dcterms:W3CDTF">2026-09-30T02:31:40Z</dcterms:modified>
  <cp:category/>
</cp:coreProperties>
</file>